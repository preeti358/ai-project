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64" r:id="rId7"/>
    <p:sldId id="259" r:id="rId8"/>
  </p:sldIdLst>
  <p:sldSz cx="9902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iUDM6Ae9C3YrxVlldXvCL2TFIM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58" y="72"/>
      </p:cViewPr>
      <p:guideLst>
        <p:guide pos="311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266387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6883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8098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6863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4901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F2F2F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Artificial Intelligence Course</a:t>
            </a:r>
            <a:endParaRPr sz="2400" b="0" i="0" u="none" strike="noStrike" cap="non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2">
  <p:cSld name="3_Table of Contents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">
  <p:cSld name="2_Table of Conten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8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8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sz="17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99"/>
              <a:buFont typeface="Arial"/>
              <a:buNone/>
              <a:defRPr sz="179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4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5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1945" algn="l" rtl="0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7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4640" algn="l" rtl="0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Font typeface="Arial"/>
              <a:buChar char="•"/>
              <a:defRPr sz="13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2">
  <p:cSld name="2_Table of Contents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AI Course</a:t>
            </a:r>
            <a:endParaRPr sz="210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">
  <p:cSld name="3_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able of Contents">
  <p:cSld name="1_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">
  <p:cSld name="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w="15875" cap="flat" cmpd="sng">
            <a:solidFill>
              <a:srgbClr val="0924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ody">
  <p:cSld name="1_Body">
    <p:bg>
      <p:bgPr>
        <a:solidFill>
          <a:srgbClr val="F2F2F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 dirty="0" smtClean="0"/>
              <a:t>SIC-25-26-Team-408</a:t>
            </a:r>
            <a:endParaRPr dirty="0"/>
          </a:p>
        </p:txBody>
      </p:sp>
      <p:sp>
        <p:nvSpPr>
          <p:cNvPr id="83" name="Google Shape;83;p1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dirty="0" smtClean="0">
                <a:solidFill>
                  <a:schemeClr val="tx1"/>
                </a:solidFill>
              </a:rPr>
              <a:t>Aggregated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Resume Screener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892040"/>
            <a:ext cx="4379913" cy="1647869"/>
            <a:chOff x="4181256" y="3224809"/>
            <a:chExt cx="4379913" cy="1647869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1. </a:t>
              </a:r>
              <a:r>
                <a:rPr lang="en-US" sz="1800" dirty="0" smtClean="0">
                  <a:solidFill>
                    <a:srgbClr val="3F3F3F"/>
                  </a:solidFill>
                </a:rPr>
                <a:t>Introduction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60752" y="3641572"/>
              <a:ext cx="3400417" cy="1231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smtClean="0">
                  <a:solidFill>
                    <a:srgbClr val="193EB0"/>
                  </a:solidFill>
                </a:rPr>
                <a:t>1.1 Introduction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smtClean="0">
                  <a:solidFill>
                    <a:srgbClr val="193EB0"/>
                  </a:solidFill>
                </a:rPr>
                <a:t>1.2 Problem Statement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smtClean="0">
                  <a:solidFill>
                    <a:srgbClr val="193EB0"/>
                  </a:solidFill>
                </a:rPr>
                <a:t>1.3 Objectives of the project</a:t>
              </a: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endParaRPr dirty="0"/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710836" y="3266753"/>
            <a:ext cx="4379913" cy="1278537"/>
            <a:chOff x="4181256" y="3224809"/>
            <a:chExt cx="4379913" cy="1278537"/>
          </a:xfrm>
        </p:grpSpPr>
        <p:sp>
          <p:nvSpPr>
            <p:cNvPr id="93" name="Google Shape;93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2. </a:t>
              </a:r>
              <a:r>
                <a:rPr lang="en-US" sz="1800" dirty="0" smtClean="0">
                  <a:solidFill>
                    <a:srgbClr val="3F3F3F"/>
                  </a:solidFill>
                </a:rPr>
                <a:t>Project Execution</a:t>
              </a:r>
              <a:endParaRPr dirty="0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160752" y="3641572"/>
              <a:ext cx="3400417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 smtClean="0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2.1 </a:t>
              </a:r>
              <a:r>
                <a:rPr lang="en-US" dirty="0" smtClean="0">
                  <a:solidFill>
                    <a:srgbClr val="193EB0"/>
                  </a:solidFill>
                </a:rPr>
                <a:t>Data Acquisition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smtClean="0">
                  <a:solidFill>
                    <a:srgbClr val="193EB0"/>
                  </a:solidFill>
                </a:rPr>
                <a:t>2.2 Training Methodology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smtClean="0">
                  <a:solidFill>
                    <a:srgbClr val="193EB0"/>
                  </a:solidFill>
                </a:rPr>
                <a:t>2.3 Tools and Technologies Used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710836" y="4641466"/>
            <a:ext cx="4379913" cy="4941078"/>
            <a:chOff x="4181256" y="3224809"/>
            <a:chExt cx="4379913" cy="4941078"/>
          </a:xfrm>
        </p:grpSpPr>
        <p:sp>
          <p:nvSpPr>
            <p:cNvPr id="97" name="Google Shape;97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 smtClean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Unit </a:t>
              </a: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3. </a:t>
              </a:r>
              <a:r>
                <a:rPr lang="en-US" sz="1800" dirty="0" smtClean="0">
                  <a:solidFill>
                    <a:srgbClr val="3F3F3F"/>
                  </a:solidFill>
                </a:rPr>
                <a:t>Results</a:t>
              </a:r>
              <a:endParaRPr dirty="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160752" y="3641572"/>
              <a:ext cx="3400417" cy="45243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 dirty="0" smtClean="0">
                  <a:solidFill>
                    <a:srgbClr val="193EB0"/>
                  </a:solidFill>
                  <a:latin typeface="Arial"/>
                  <a:ea typeface="Arial"/>
                  <a:cs typeface="Arial"/>
                  <a:sym typeface="Arial"/>
                </a:rPr>
                <a:t>3.1</a:t>
              </a:r>
              <a:r>
                <a:rPr lang="en-US" dirty="0">
                  <a:solidFill>
                    <a:srgbClr val="193EB0"/>
                  </a:solidFill>
                </a:rPr>
                <a:t> </a:t>
              </a:r>
              <a:r>
                <a:rPr lang="en-US" dirty="0" smtClean="0">
                  <a:solidFill>
                    <a:srgbClr val="193EB0"/>
                  </a:solidFill>
                </a:rPr>
                <a:t>Results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smtClean="0">
                  <a:solidFill>
                    <a:srgbClr val="193EB0"/>
                  </a:solidFill>
                </a:rPr>
                <a:t>3.2 Applications and Benefits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smtClean="0">
                  <a:solidFill>
                    <a:srgbClr val="193EB0"/>
                  </a:solidFill>
                </a:rPr>
                <a:t>3.3 Future Scope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 smtClean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 smtClean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 smtClean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 smtClean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 smtClean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 smtClean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 smtClean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 smtClean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 smtClean="0">
                <a:solidFill>
                  <a:srgbClr val="193EB0"/>
                </a:solidFill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dirty="0" smtClean="0">
                <a:solidFill>
                  <a:schemeClr val="bg1"/>
                </a:solidFill>
              </a:rPr>
              <a:t>Aggregated Resume Screener</a:t>
            </a:r>
            <a:endParaRPr sz="2400" dirty="0">
              <a:solidFill>
                <a:schemeClr val="bg1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441736" y="1126041"/>
            <a:ext cx="922794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800" dirty="0"/>
              <a:t>1.1. Background Information </a:t>
            </a:r>
            <a:r>
              <a:rPr lang="en-IN" sz="1600" dirty="0"/>
              <a:t>- Artificial Intelligence and Machine Learning provide automated solutions by applying Natural Language Processing (NLP) techniques to classify unstructured text into meaningful categories</a:t>
            </a:r>
          </a:p>
        </p:txBody>
      </p:sp>
      <p:sp>
        <p:nvSpPr>
          <p:cNvPr id="106" name="Google Shape;106;p3"/>
          <p:cNvSpPr txBox="1">
            <a:spLocks noGrp="1"/>
          </p:cNvSpPr>
          <p:nvPr>
            <p:ph type="body" idx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/>
              <a:t>1.1</a:t>
            </a: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2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-US" dirty="0" smtClean="0"/>
              <a:t>Introduction</a:t>
            </a:r>
            <a:endParaRPr dirty="0"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3"/>
          </p:nvPr>
        </p:nvSpPr>
        <p:spPr>
          <a:xfrm>
            <a:off x="9112825" y="480779"/>
            <a:ext cx="3406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4"/>
          </p:nvPr>
        </p:nvSpPr>
        <p:spPr>
          <a:xfrm>
            <a:off x="8577727" y="480779"/>
            <a:ext cx="6307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</a:pPr>
            <a:r>
              <a:rPr lang="en-US" dirty="0" smtClean="0"/>
              <a:t>UNIT</a:t>
            </a:r>
            <a:endParaRPr dirty="0"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5"/>
          </p:nvPr>
        </p:nvSpPr>
        <p:spPr>
          <a:xfrm>
            <a:off x="181184" y="1560204"/>
            <a:ext cx="805543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70"/>
              <a:buNone/>
            </a:pPr>
            <a:endParaRPr dirty="0"/>
          </a:p>
          <a:p>
            <a:pPr marL="177748" lvl="1" indent="0" algn="l" rtl="0">
              <a:lnSpc>
                <a:spcPct val="138461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040"/>
              <a:buNone/>
            </a:pPr>
            <a:endParaRPr dirty="0"/>
          </a:p>
        </p:txBody>
      </p:sp>
      <p:sp>
        <p:nvSpPr>
          <p:cNvPr id="111" name="Google Shape;111;p3"/>
          <p:cNvSpPr/>
          <p:nvPr/>
        </p:nvSpPr>
        <p:spPr>
          <a:xfrm>
            <a:off x="6795835" y="5250998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Aggregated Resume Screener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7816" y="2360578"/>
            <a:ext cx="8845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smtClean="0"/>
              <a:t> 1.2</a:t>
            </a:r>
            <a:r>
              <a:rPr lang="en-IN" sz="1800" dirty="0"/>
              <a:t>. Motivation and Objective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600" dirty="0"/>
              <a:t>        </a:t>
            </a:r>
            <a:r>
              <a:rPr lang="en-IN" sz="1600" dirty="0" smtClean="0"/>
              <a:t>  </a:t>
            </a:r>
            <a:r>
              <a:rPr lang="en-IN" sz="1600" dirty="0"/>
              <a:t>To </a:t>
            </a:r>
            <a:r>
              <a:rPr lang="en-IN" sz="1600" b="1" dirty="0"/>
              <a:t>collect and </a:t>
            </a:r>
            <a:r>
              <a:rPr lang="en-IN" sz="1600" b="1" dirty="0" smtClean="0"/>
              <a:t>pre-process</a:t>
            </a:r>
            <a:r>
              <a:rPr lang="en-IN" sz="1600" dirty="0" smtClean="0"/>
              <a:t> </a:t>
            </a:r>
            <a:r>
              <a:rPr lang="en-IN" sz="1600" dirty="0"/>
              <a:t>resume and news category data using NLP techniques. </a:t>
            </a:r>
          </a:p>
          <a:p>
            <a:r>
              <a:rPr lang="en-IN" sz="3200" dirty="0"/>
              <a:t>    </a:t>
            </a:r>
            <a:r>
              <a:rPr lang="en-IN" sz="3200" dirty="0" smtClean="0"/>
              <a:t> </a:t>
            </a:r>
            <a:r>
              <a:rPr lang="en-IN" sz="1600" dirty="0"/>
              <a:t>To </a:t>
            </a:r>
            <a:r>
              <a:rPr lang="en-IN" sz="1600" b="1" dirty="0"/>
              <a:t>develop and train multiple machine learning models</a:t>
            </a:r>
            <a:r>
              <a:rPr lang="en-IN" sz="1600" dirty="0"/>
              <a:t> for classification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358" y="4518143"/>
            <a:ext cx="8480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30036" y="4241143"/>
            <a:ext cx="27015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Machine Learning Engineer</a:t>
            </a:r>
          </a:p>
          <a:p>
            <a:r>
              <a:rPr lang="en-US" dirty="0" smtClean="0"/>
              <a:t> Data Engineer</a:t>
            </a:r>
          </a:p>
          <a:p>
            <a:r>
              <a:rPr lang="en-US" dirty="0" smtClean="0"/>
              <a:t> Presentation Designer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-469420" y="4438084"/>
            <a:ext cx="634636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 </a:t>
            </a:r>
          </a:p>
          <a:p>
            <a:r>
              <a:rPr lang="en-IN" sz="3200" b="1" dirty="0"/>
              <a:t>       </a:t>
            </a:r>
            <a:endParaRPr lang="en-IN" sz="1800" b="1" dirty="0" smtClean="0"/>
          </a:p>
          <a:p>
            <a:endParaRPr lang="en-IN" sz="1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66272" y="3808692"/>
            <a:ext cx="5906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1800" dirty="0"/>
              <a:t>1.3. Members and Role Assignments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 flipH="1">
            <a:off x="702212" y="1371601"/>
            <a:ext cx="568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2.1 Data Acquisition</a:t>
            </a:r>
            <a:endParaRPr lang="en-IN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410307" y="246185"/>
            <a:ext cx="478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>
                    <a:lumMod val="95000"/>
                  </a:schemeClr>
                </a:solidFill>
              </a:rPr>
              <a:t>2. Project Execution</a:t>
            </a:r>
            <a:endParaRPr lang="en-IN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8893" y="1740933"/>
            <a:ext cx="75848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For news category distribution, the label column is annotated to represent different types of news (e.g., Politics, Sports, Entertainment, Technology). Such data can be collected from </a:t>
            </a:r>
            <a:r>
              <a:rPr lang="en-IN" b="1" dirty="0"/>
              <a:t>open news datasets</a:t>
            </a:r>
            <a:r>
              <a:rPr lang="en-IN" dirty="0"/>
              <a:t> or manually categorized for academic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870" y="2440366"/>
            <a:ext cx="3081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2.2 Training Methodology</a:t>
            </a:r>
            <a:endParaRPr lang="en-IN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808893" y="2848929"/>
            <a:ext cx="79013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preparation</a:t>
            </a:r>
          </a:p>
          <a:p>
            <a:r>
              <a:rPr lang="en-US" dirty="0" smtClean="0"/>
              <a:t>Splitting the Dataset</a:t>
            </a:r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65870" y="3402927"/>
            <a:ext cx="4995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2.3 Workflow</a:t>
            </a:r>
            <a:endParaRPr lang="en-IN" sz="1800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808893" y="3772259"/>
            <a:ext cx="55186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Acquisition</a:t>
            </a:r>
          </a:p>
          <a:p>
            <a:r>
              <a:rPr lang="en-US" dirty="0" smtClean="0"/>
              <a:t>Data Processing</a:t>
            </a:r>
          </a:p>
          <a:p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8710247" y="406642"/>
            <a:ext cx="876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UNIT 02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95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7539" y="199294"/>
            <a:ext cx="502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.</a:t>
            </a:r>
            <a:r>
              <a:rPr lang="en-US" sz="3200" dirty="0" smtClean="0">
                <a:solidFill>
                  <a:schemeClr val="bg1"/>
                </a:solidFill>
              </a:rPr>
              <a:t>3.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Result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 flipH="1">
            <a:off x="527539" y="1441939"/>
            <a:ext cx="468923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3.1. Data </a:t>
            </a:r>
            <a:r>
              <a:rPr lang="en-IN" sz="1800" b="1" dirty="0" smtClean="0"/>
              <a:t>Pre-processing </a:t>
            </a:r>
            <a:endParaRPr lang="en-IN" sz="1800" b="1" dirty="0"/>
          </a:p>
          <a:p>
            <a:r>
              <a:rPr lang="en-US" sz="1800" dirty="0"/>
              <a:t> </a:t>
            </a:r>
            <a:r>
              <a:rPr lang="en-IN" dirty="0" smtClean="0"/>
              <a:t>1</a:t>
            </a:r>
            <a:r>
              <a:rPr lang="en-IN" dirty="0"/>
              <a:t>. Handling Missing Values</a:t>
            </a:r>
            <a:endParaRPr lang="en-IN" b="1" dirty="0"/>
          </a:p>
          <a:p>
            <a:r>
              <a:rPr lang="en-IN" dirty="0" smtClean="0"/>
              <a:t> 2</a:t>
            </a:r>
            <a:r>
              <a:rPr lang="en-IN" dirty="0"/>
              <a:t>. Text Cleaning</a:t>
            </a:r>
            <a:endParaRPr lang="en-IN" b="1" dirty="0"/>
          </a:p>
          <a:p>
            <a:r>
              <a:rPr lang="en-IN" dirty="0" smtClean="0"/>
              <a:t> 3</a:t>
            </a:r>
            <a:r>
              <a:rPr lang="en-IN" dirty="0"/>
              <a:t>. Tokenization &amp; Normalization</a:t>
            </a:r>
            <a:endParaRPr lang="en-IN" b="1" dirty="0"/>
          </a:p>
          <a:p>
            <a:endParaRPr lang="en-US" dirty="0" smtClean="0"/>
          </a:p>
          <a:p>
            <a:r>
              <a:rPr lang="en-IN" b="1" dirty="0"/>
              <a:t>3.2. Exploratory Data Analysis (EDA)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IN" dirty="0" smtClean="0"/>
              <a:t>1</a:t>
            </a:r>
            <a:r>
              <a:rPr lang="en-IN" dirty="0"/>
              <a:t>. Dataset Overview</a:t>
            </a:r>
            <a:endParaRPr lang="en-IN" b="1" dirty="0"/>
          </a:p>
          <a:p>
            <a:r>
              <a:rPr lang="en-IN" dirty="0" smtClean="0"/>
              <a:t> 2</a:t>
            </a:r>
            <a:r>
              <a:rPr lang="en-IN" dirty="0"/>
              <a:t>. Data </a:t>
            </a:r>
            <a:r>
              <a:rPr lang="en-IN" dirty="0" smtClean="0"/>
              <a:t>Inspection</a:t>
            </a:r>
          </a:p>
          <a:p>
            <a:r>
              <a:rPr lang="en-US" dirty="0"/>
              <a:t> </a:t>
            </a:r>
            <a:endParaRPr lang="en-US" dirty="0" smtClean="0"/>
          </a:p>
          <a:p>
            <a:r>
              <a:rPr lang="en-IN" b="1" dirty="0"/>
              <a:t>3.3. </a:t>
            </a:r>
            <a:r>
              <a:rPr lang="en-IN" b="1" dirty="0" smtClean="0"/>
              <a:t>Modelling</a:t>
            </a:r>
            <a:endParaRPr lang="en-IN" b="1" dirty="0"/>
          </a:p>
          <a:p>
            <a:r>
              <a:rPr lang="en-IN" b="1" dirty="0"/>
              <a:t> </a:t>
            </a:r>
            <a:r>
              <a:rPr lang="en-IN" dirty="0"/>
              <a:t>1. Handling Missing </a:t>
            </a:r>
            <a:r>
              <a:rPr lang="en-IN" dirty="0" smtClean="0"/>
              <a:t>Values</a:t>
            </a:r>
          </a:p>
          <a:p>
            <a:r>
              <a:rPr lang="en-US" b="1" dirty="0"/>
              <a:t> </a:t>
            </a:r>
            <a:r>
              <a:rPr lang="en-IN" dirty="0"/>
              <a:t>2. Text Cleaning</a:t>
            </a:r>
            <a:endParaRPr lang="en-IN" b="1" dirty="0"/>
          </a:p>
          <a:p>
            <a:endParaRPr lang="en-US" b="1" dirty="0" smtClean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dirty="0" smtClean="0"/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343655" y="293077"/>
            <a:ext cx="155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UNIT 03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97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386" y="187569"/>
            <a:ext cx="4009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Future Score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7846" y="1828800"/>
            <a:ext cx="6236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Python</a:t>
            </a:r>
          </a:p>
          <a:p>
            <a:r>
              <a:rPr lang="en-US" sz="1800" dirty="0" smtClean="0"/>
              <a:t>Pandas</a:t>
            </a:r>
          </a:p>
          <a:p>
            <a:r>
              <a:rPr lang="en-US" sz="1800" dirty="0" err="1" smtClean="0"/>
              <a:t>Numpy</a:t>
            </a:r>
            <a:endParaRPr lang="en-US" sz="1800" dirty="0" smtClean="0"/>
          </a:p>
          <a:p>
            <a:r>
              <a:rPr lang="en-US" sz="1800" dirty="0" err="1" smtClean="0"/>
              <a:t>Scikit</a:t>
            </a:r>
            <a:r>
              <a:rPr lang="en-US" sz="1800" dirty="0" smtClean="0"/>
              <a:t>-learn</a:t>
            </a:r>
          </a:p>
          <a:p>
            <a:r>
              <a:rPr lang="en-US" sz="1800" dirty="0" smtClean="0"/>
              <a:t>NLTK</a:t>
            </a:r>
          </a:p>
          <a:p>
            <a:r>
              <a:rPr lang="en-US" sz="1800" dirty="0" err="1" smtClean="0"/>
              <a:t>Matplotlib</a:t>
            </a:r>
            <a:endParaRPr lang="en-US" sz="1800" dirty="0" smtClean="0"/>
          </a:p>
          <a:p>
            <a:r>
              <a:rPr lang="en-US" sz="1800" dirty="0" smtClean="0"/>
              <a:t>Google </a:t>
            </a:r>
            <a:r>
              <a:rPr lang="en-US" sz="1800" dirty="0" err="1" smtClean="0"/>
              <a:t>Colab</a:t>
            </a:r>
            <a:r>
              <a:rPr lang="en-US" sz="1800" dirty="0" smtClean="0"/>
              <a:t> / </a:t>
            </a:r>
            <a:r>
              <a:rPr lang="en-US" sz="1800" dirty="0" err="1" smtClean="0"/>
              <a:t>Jupyter</a:t>
            </a:r>
            <a:r>
              <a:rPr lang="en-US" sz="1800" dirty="0" smtClean="0"/>
              <a:t> Notebook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95600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6252</TotalTime>
  <Words>275</Words>
  <Application>Microsoft Office PowerPoint</Application>
  <PresentationFormat>Custom</PresentationFormat>
  <Paragraphs>88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Malgun Gothic</vt:lpstr>
      <vt:lpstr>Arial</vt:lpstr>
      <vt:lpstr>Calibri</vt:lpstr>
      <vt:lpstr>Office Theme</vt:lpstr>
      <vt:lpstr>Aggregated Resume Screener</vt:lpstr>
      <vt:lpstr>PowerPoint Presentation</vt:lpstr>
      <vt:lpstr>1.1. Background Information - Artificial Intelligence and Machine Learning provide automated solutions by applying Natural Language Processing (NLP) techniques to classify unstructured text into meaningful categories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Agreegated Resume Screener</dc:title>
  <dc:creator>Soon Yong Chang</dc:creator>
  <cp:lastModifiedBy>hp</cp:lastModifiedBy>
  <cp:revision>25</cp:revision>
  <dcterms:created xsi:type="dcterms:W3CDTF">2019-07-06T14:12:49Z</dcterms:created>
  <dcterms:modified xsi:type="dcterms:W3CDTF">2026-03-24T13:39:34Z</dcterms:modified>
</cp:coreProperties>
</file>